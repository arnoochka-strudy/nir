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9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5" d="100"/>
          <a:sy n="75" d="100"/>
        </p:scale>
        <p:origin x="1482" y="906"/>
      </p:cViewPr>
      <p:guideLst>
        <p:guide pos="2409" orient="horz"/>
        <p:guide pos="41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91277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509308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ECDAC6F-BB1F-4063-BD4A-C26C60CE3AD6}" type="datetimeFigureOut">
              <a:rPr lang="ru-RU"/>
              <a:t>07.10.2024</a:t>
            </a:fld>
            <a:endParaRPr lang="ru-RU"/>
          </a:p>
        </p:txBody>
      </p:sp>
      <p:sp>
        <p:nvSpPr>
          <p:cNvPr id="691704742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97845141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127942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586243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4060B39-B557-40BF-9ECA-089F8F8977CD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747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2165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34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4C26BC-528A-DD6F-5180-E2398AB7715B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741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065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464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8EA068-C54B-D4EE-9625-C92378007B4D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143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350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946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6F86B-136C-752C-F79E-F6D964EEF01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441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99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154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B34B55-146D-AEEB-A3AB-EC9E1CAB900C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269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74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524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643B0C-B4F6-38DA-E640-B40D6B09D091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015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40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442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7A952A-92D4-9725-61AB-69B5EE7B1F12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7652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8706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552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713E2-60C7-D514-73D0-C5DE7A3E8FE7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110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32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223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6B503-A2B1-D5A8-F84E-BE3A436AD0E7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06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1998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362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A4450E-EABD-581D-6EDE-E61B94A26E1A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421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7332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594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5120CB-8C77-8F79-61D6-140C3EFE2C66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016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9173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82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E75464-4942-6993-6429-7E4659D73EB9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272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9732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94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20BA23-F73E-AF93-B395-7FB6933D4E24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923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538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6286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6B5D5C-0D55-AEA9-FA4E-E50D42DF3773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947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765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9782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A607EE-EAF6-416B-DFBA-2D3C9CED5FA7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13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397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75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E1344E-9656-62EA-67A9-2ED68AD38791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480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556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572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4FE21-669A-2D5C-CC8B-4AC47AD87E85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26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22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20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1C3E5A-0139-E585-6512-AC3268A4F9DF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739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385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86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8C9F87-EA3A-C63F-B071-DE9DAB9BBD05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140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947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373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3FDDFC-F583-1AE3-CF8F-46310313509F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6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6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206077" name="Прямоугольник 4"/>
          <p:cNvSpPr/>
          <p:nvPr userDrawn="1"/>
        </p:nvSpPr>
        <p:spPr bwMode="auto"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371345496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319013548" name="Прямоугольник 5"/>
          <p:cNvSpPr/>
          <p:nvPr userDrawn="1"/>
        </p:nvSpPr>
        <p:spPr bwMode="auto"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19400588" name="Прямоугольник 6"/>
          <p:cNvSpPr/>
          <p:nvPr userDrawn="1"/>
        </p:nvSpPr>
        <p:spPr bwMode="auto"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07299305" name="Прямоугольник 9"/>
          <p:cNvSpPr/>
          <p:nvPr userDrawn="1"/>
        </p:nvSpPr>
        <p:spPr bwMode="auto"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32560266" name="Прямоугольник 8"/>
          <p:cNvSpPr/>
          <p:nvPr userDrawn="1"/>
        </p:nvSpPr>
        <p:spPr bwMode="auto"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738187793" name="Рисунок 1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2011" y="-267304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632277" name="Прямоугольник 4"/>
          <p:cNvSpPr/>
          <p:nvPr userDrawn="1"/>
        </p:nvSpPr>
        <p:spPr bwMode="auto"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551455419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872424487" name="Прямоугольник 5"/>
          <p:cNvSpPr/>
          <p:nvPr userDrawn="1"/>
        </p:nvSpPr>
        <p:spPr bwMode="auto"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44012546" name="Прямоугольник 9"/>
          <p:cNvSpPr/>
          <p:nvPr userDrawn="1"/>
        </p:nvSpPr>
        <p:spPr bwMode="auto"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94260536" name="Прямоугольник 8"/>
          <p:cNvSpPr/>
          <p:nvPr userDrawn="1"/>
        </p:nvSpPr>
        <p:spPr bwMode="auto"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634531068" name="Рисунок 1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2011" y="-646867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211730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97019420" name="Прямоугольник 12"/>
          <p:cNvSpPr/>
          <p:nvPr userDrawn="1"/>
        </p:nvSpPr>
        <p:spPr bwMode="auto"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68041348" name="Прямоугольник 13"/>
          <p:cNvSpPr/>
          <p:nvPr userDrawn="1"/>
        </p:nvSpPr>
        <p:spPr bwMode="auto"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037640020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1100420027" name="Рисунок 1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5_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473763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8551201" name="Прямоугольник 12"/>
          <p:cNvSpPr/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13443799" name="Прямоугольник 13"/>
          <p:cNvSpPr/>
          <p:nvPr userDrawn="1"/>
        </p:nvSpPr>
        <p:spPr bwMode="auto"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339863548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301877682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317589" y="-67201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473914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79425261" name="Прямоугольник 12"/>
          <p:cNvSpPr/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62695835" name="Прямоугольник 13"/>
          <p:cNvSpPr/>
          <p:nvPr userDrawn="1"/>
        </p:nvSpPr>
        <p:spPr bwMode="auto"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270232738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37769541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6_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245772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920144693" name="Прямоугольник 12"/>
          <p:cNvSpPr/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74874806" name="Прямоугольник 13"/>
          <p:cNvSpPr/>
          <p:nvPr userDrawn="1"/>
        </p:nvSpPr>
        <p:spPr bwMode="auto"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907229359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619383111" name="Рисунок 10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317589" y="-67201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293084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76400676" name="Прямоугольник 12"/>
          <p:cNvSpPr/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69855219" name="Прямоугольник 13"/>
          <p:cNvSpPr/>
          <p:nvPr userDrawn="1"/>
        </p:nvSpPr>
        <p:spPr bwMode="auto"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922522460" name="Рисунок 14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1740305220" name="Рисунок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7_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559650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29288443" name="Прямоугольник 12"/>
          <p:cNvSpPr/>
          <p:nvPr userDrawn="1"/>
        </p:nvSpPr>
        <p:spPr bwMode="auto"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92752683" name="Прямоугольник 13"/>
          <p:cNvSpPr/>
          <p:nvPr userDrawn="1"/>
        </p:nvSpPr>
        <p:spPr bwMode="auto"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grpSp>
        <p:nvGrpSpPr>
          <p:cNvPr id="1048457518" name="Группа 52"/>
          <p:cNvGrpSpPr/>
          <p:nvPr userDrawn="1"/>
        </p:nvGrpSpPr>
        <p:grpSpPr bwMode="auto"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 bwMode="auto"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 bwMode="auto"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 bwMode="auto"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 bwMode="auto"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 bwMode="auto"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 bwMode="auto"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 bwMode="auto"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 bwMode="auto"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 bwMode="auto"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 bwMode="auto"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 bwMode="auto"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 bwMode="auto"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 bwMode="auto"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 bwMode="auto"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 bwMode="auto"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 bwMode="auto"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75541345" name="Рисунок 14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988592277" name="Рисунок 2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-317589" y="-672018"/>
            <a:ext cx="4572180" cy="24687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370182" name="Объект 2"/>
          <p:cNvSpPr>
            <a:spLocks noGrp="1"/>
          </p:cNvSpPr>
          <p:nvPr>
            <p:ph sz="half" idx="1"/>
          </p:nvPr>
        </p:nvSpPr>
        <p:spPr bwMode="auto"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1171543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Заголовок + ненумер. спис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549935" name="Объект 2"/>
          <p:cNvSpPr>
            <a:spLocks noGrp="1"/>
          </p:cNvSpPr>
          <p:nvPr>
            <p:ph sz="half" idx="1"/>
          </p:nvPr>
        </p:nvSpPr>
        <p:spPr bwMode="auto"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15641445" name="Объект 2"/>
          <p:cNvSpPr>
            <a:spLocks noGrp="1"/>
          </p:cNvSpPr>
          <p:nvPr>
            <p:ph sz="half" idx="10"/>
          </p:nvPr>
        </p:nvSpPr>
        <p:spPr bwMode="auto"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30905520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+ нумерованный спис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390120" name="Объект 2"/>
          <p:cNvSpPr>
            <a:spLocks noGrp="1"/>
          </p:cNvSpPr>
          <p:nvPr>
            <p:ph sz="half" idx="1"/>
          </p:nvPr>
        </p:nvSpPr>
        <p:spPr bwMode="auto"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70776364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сто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96866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22952114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Заголовок + текст + рису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216334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7" y="0"/>
            <a:ext cx="7008812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210798410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1450" y="1138687"/>
            <a:ext cx="4831870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21372688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исунок +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311099" name="Рисунок 2"/>
          <p:cNvSpPr>
            <a:spLocks noGrp="1"/>
          </p:cNvSpPr>
          <p:nvPr>
            <p:ph type="pic" idx="1"/>
          </p:nvPr>
        </p:nvSpPr>
        <p:spPr bwMode="auto"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94342111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лева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580367" name="Рисунок 2"/>
          <p:cNvSpPr>
            <a:spLocks noGrp="1"/>
          </p:cNvSpPr>
          <p:nvPr>
            <p:ph type="pic" idx="1"/>
          </p:nvPr>
        </p:nvSpPr>
        <p:spPr bwMode="auto"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78632293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55505595" name="Заголовок 1"/>
          <p:cNvSpPr>
            <a:spLocks noGrp="1"/>
          </p:cNvSpPr>
          <p:nvPr>
            <p:ph type="title"/>
          </p:nvPr>
        </p:nvSpPr>
        <p:spPr bwMode="auto"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0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602166" name="Рисунок 2"/>
          <p:cNvSpPr>
            <a:spLocks noGrp="1"/>
          </p:cNvSpPr>
          <p:nvPr>
            <p:ph type="pic" idx="1"/>
          </p:nvPr>
        </p:nvSpPr>
        <p:spPr bwMode="auto"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/>
                <a:ea typeface="Open Sans Light"/>
                <a:cs typeface="Open Sans Ligh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6553980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3572163" name="Заголовок 1"/>
          <p:cNvSpPr>
            <a:spLocks noGrp="1"/>
          </p:cNvSpPr>
          <p:nvPr>
            <p:ph type="title"/>
          </p:nvPr>
        </p:nvSpPr>
        <p:spPr bwMode="auto"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в центре + врезка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429706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1070605675" name="Прямоугольник: один усеченный угол 11"/>
          <p:cNvSpPr/>
          <p:nvPr userDrawn="1"/>
        </p:nvSpPr>
        <p:spPr bwMode="auto"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          </a:t>
            </a:r>
            <a:endParaRPr lang="ru-RU"/>
          </a:p>
        </p:txBody>
      </p:sp>
      <p:sp>
        <p:nvSpPr>
          <p:cNvPr id="246008163" name="Текст 3"/>
          <p:cNvSpPr>
            <a:spLocks noGrp="1"/>
          </p:cNvSpPr>
          <p:nvPr>
            <p:ph type="body" sz="half" idx="11"/>
          </p:nvPr>
        </p:nvSpPr>
        <p:spPr bwMode="auto"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03847509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18719955" name="Текст 3"/>
          <p:cNvSpPr>
            <a:spLocks noGrp="1"/>
          </p:cNvSpPr>
          <p:nvPr>
            <p:ph type="body" sz="half" idx="12"/>
          </p:nvPr>
        </p:nvSpPr>
        <p:spPr bwMode="auto"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Рисунок в центре + врезка +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26611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1666682681" name="Прямоугольник: один усеченный угол 11"/>
          <p:cNvSpPr/>
          <p:nvPr userDrawn="1"/>
        </p:nvSpPr>
        <p:spPr bwMode="auto"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          </a:t>
            </a:r>
            <a:endParaRPr lang="ru-RU"/>
          </a:p>
        </p:txBody>
      </p:sp>
      <p:sp>
        <p:nvSpPr>
          <p:cNvPr id="195919229" name="Текст 3"/>
          <p:cNvSpPr>
            <a:spLocks noGrp="1"/>
          </p:cNvSpPr>
          <p:nvPr>
            <p:ph type="body" sz="half" idx="11"/>
          </p:nvPr>
        </p:nvSpPr>
        <p:spPr bwMode="auto"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7491644" name="Текст 3"/>
          <p:cNvSpPr>
            <a:spLocks noGrp="1"/>
          </p:cNvSpPr>
          <p:nvPr>
            <p:ph type="body" sz="half" idx="12"/>
          </p:nvPr>
        </p:nvSpPr>
        <p:spPr bwMode="auto"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44571270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иаграмма + текст справ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4916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408922" y="1223009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28167392" name="Диаграмма 7"/>
          <p:cNvSpPr>
            <a:spLocks noGrp="1"/>
          </p:cNvSpPr>
          <p:nvPr>
            <p:ph type="chart" sz="quarter" idx="11"/>
          </p:nvPr>
        </p:nvSpPr>
        <p:spPr bwMode="auto"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9892345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&quot;Дорожная карта&quot;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701658201" name="Соединительная линия уступом 5"/>
          <p:cNvCxnSpPr/>
          <p:nvPr userDrawn="1"/>
        </p:nvCxnSpPr>
        <p:spPr bwMode="auto">
          <a:xfrm>
            <a:off x="165735" y="1417320"/>
            <a:ext cx="11755755" cy="119443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0054532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5977892" name="Текст 3"/>
          <p:cNvSpPr>
            <a:spLocks noGrp="1"/>
          </p:cNvSpPr>
          <p:nvPr>
            <p:ph type="body" sz="half" idx="11"/>
          </p:nvPr>
        </p:nvSpPr>
        <p:spPr bwMode="auto"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3014851" name="Текст 3"/>
          <p:cNvSpPr>
            <a:spLocks noGrp="1"/>
          </p:cNvSpPr>
          <p:nvPr>
            <p:ph type="body" sz="half" idx="12"/>
          </p:nvPr>
        </p:nvSpPr>
        <p:spPr bwMode="auto"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76884292" name="Текст 3"/>
          <p:cNvSpPr>
            <a:spLocks noGrp="1"/>
          </p:cNvSpPr>
          <p:nvPr>
            <p:ph type="body" sz="half" idx="13"/>
          </p:nvPr>
        </p:nvSpPr>
        <p:spPr bwMode="auto"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63178645" name="Текст 3"/>
          <p:cNvSpPr>
            <a:spLocks noGrp="1"/>
          </p:cNvSpPr>
          <p:nvPr>
            <p:ph type="body" sz="half" idx="15"/>
          </p:nvPr>
        </p:nvSpPr>
        <p:spPr bwMode="auto"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8532472" name="Текст 3"/>
          <p:cNvSpPr>
            <a:spLocks noGrp="1"/>
          </p:cNvSpPr>
          <p:nvPr>
            <p:ph type="body" sz="half" idx="16"/>
          </p:nvPr>
        </p:nvSpPr>
        <p:spPr bwMode="auto">
          <a:xfrm>
            <a:off x="348576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78911788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4_Заголовок раздела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158246" name="Прямоугольник 12"/>
          <p:cNvSpPr/>
          <p:nvPr userDrawn="1"/>
        </p:nvSpPr>
        <p:spPr bwMode="auto"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79795122" name="Прямоугольник 13"/>
          <p:cNvSpPr/>
          <p:nvPr userDrawn="1"/>
        </p:nvSpPr>
        <p:spPr bwMode="auto"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87841168" name="Прямоугольник 9"/>
          <p:cNvSpPr/>
          <p:nvPr userDrawn="1"/>
        </p:nvSpPr>
        <p:spPr bwMode="auto"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88358602" name="Текст 2"/>
          <p:cNvSpPr>
            <a:spLocks noGrp="1"/>
          </p:cNvSpPr>
          <p:nvPr>
            <p:ph type="body" sz="quarter" idx="10"/>
          </p:nvPr>
        </p:nvSpPr>
        <p:spPr bwMode="auto">
          <a:xfrm>
            <a:off x="439165" y="2249512"/>
            <a:ext cx="5108575" cy="490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84014317" name="Прямоугольник 3"/>
          <p:cNvSpPr/>
          <p:nvPr userDrawn="1"/>
        </p:nvSpPr>
        <p:spPr bwMode="auto"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2800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rPr>
              <a:t>Контакты</a:t>
            </a:r>
            <a:endParaRPr/>
          </a:p>
        </p:txBody>
      </p:sp>
      <p:pic>
        <p:nvPicPr>
          <p:cNvPr id="1002405615" name="Рисунок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-232915" y="-788417"/>
            <a:ext cx="5003322" cy="270157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403482922" name="Прямая соединительная линия 4"/>
          <p:cNvCxnSpPr/>
          <p:nvPr userDrawn="1"/>
        </p:nvCxnSpPr>
        <p:spPr bwMode="auto"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5800327" name="Рисунок 3"/>
          <p:cNvPicPr>
            <a:picLocks noChangeAspect="1"/>
          </p:cNvPicPr>
          <p:nvPr userDrawn="1"/>
        </p:nvPicPr>
        <p:blipFill>
          <a:blip r:embed="rId23"/>
          <a:stretch/>
        </p:blipFill>
        <p:spPr bwMode="auto">
          <a:xfrm>
            <a:off x="10343813" y="-309257"/>
            <a:ext cx="2044945" cy="11041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391404" name="Прямоугольник 4"/>
          <p:cNvSpPr/>
          <p:nvPr/>
        </p:nvSpPr>
        <p:spPr bwMode="auto">
          <a:xfrm flipH="0" flipV="0">
            <a:off x="1712803" y="4212405"/>
            <a:ext cx="10465120" cy="1006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3000" b="0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rPr>
              <a:t>Тема: Распределенный инференс глубоких нейросетевых моделей</a:t>
            </a:r>
            <a:endParaRPr/>
          </a:p>
        </p:txBody>
      </p:sp>
      <p:sp>
        <p:nvSpPr>
          <p:cNvPr id="60527617" name="Прямоугольник 4"/>
          <p:cNvSpPr/>
          <p:nvPr/>
        </p:nvSpPr>
        <p:spPr bwMode="auto">
          <a:xfrm flipH="0" flipV="0">
            <a:off x="1695883" y="5218605"/>
            <a:ext cx="10498960" cy="82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400" b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Выполнил: Колосков Виктор Юрьевич</a:t>
            </a:r>
            <a:endParaRPr sz="2400" b="0">
              <a:solidFill>
                <a:schemeClr val="bg1"/>
              </a:solidFill>
              <a:latin typeface="Open Sans"/>
              <a:cs typeface="Open Sans"/>
            </a:endParaRPr>
          </a:p>
          <a:p>
            <a:pPr algn="just">
              <a:defRPr/>
            </a:pPr>
            <a:r>
              <a:rPr lang="ru-RU" sz="2400" b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Научный руководитель: Першин Антон Юрьевич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250426" name="Объект 2"/>
          <p:cNvSpPr>
            <a:spLocks noGrp="1"/>
          </p:cNvSpPr>
          <p:nvPr>
            <p:ph sz="half" idx="1"/>
          </p:nvPr>
        </p:nvSpPr>
        <p:spPr bwMode="auto"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lnSpc>
                <a:spcPct val="100000"/>
              </a:lnSpc>
              <a:spcBef>
                <a:spcPts val="599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914400" indent="0">
              <a:lnSpc>
                <a:spcPct val="100000"/>
              </a:lnSpc>
              <a:spcBef>
                <a:spcPts val="599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1371600" indent="0">
              <a:lnSpc>
                <a:spcPct val="100000"/>
              </a:lnSpc>
              <a:spcBef>
                <a:spcPts val="599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1828800" indent="0">
              <a:lnSpc>
                <a:spcPct val="100000"/>
              </a:lnSpc>
              <a:spcBef>
                <a:spcPts val="599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algn="just">
              <a:defRPr/>
            </a:pPr>
            <a:r>
              <a:rPr sz="2000" b="1" i="0" u="none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	Инференс нейросетевых моделей</a:t>
            </a:r>
            <a:r>
              <a:rPr sz="2000" b="0" i="0" u="none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— это процесс использования уже обученной нейронной сети для предсказания результатов на новых, ранее невидимых данных.</a:t>
            </a:r>
            <a:endParaRPr sz="200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algn="just">
              <a:defRPr/>
            </a:pPr>
            <a:endParaRPr sz="2000">
              <a:solidFill>
                <a:schemeClr val="tx1"/>
              </a:solidFill>
              <a:latin typeface="Open Sans"/>
              <a:cs typeface="Open Sans"/>
            </a:endParaRPr>
          </a:p>
          <a:p>
            <a:pPr algn="just">
              <a:defRPr/>
            </a:pPr>
            <a:r>
              <a:rPr sz="20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	</a:t>
            </a:r>
            <a:r>
              <a:rPr sz="2000" b="0" i="0" u="none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Активное развитие технологий глубоких нейронных сетей привело к необходимости эффективного использования нескольких вычислительных устройств для выполнения инференса. Это обусловлено ограничениями памяти видеокарт и центральных процессоров при работе с крупными моделями.</a:t>
            </a:r>
            <a:endParaRPr sz="200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algn="just">
              <a:defRPr/>
            </a:pPr>
            <a:endParaRPr sz="2000">
              <a:solidFill>
                <a:schemeClr val="tx1"/>
              </a:solidFill>
              <a:latin typeface="Open Sans"/>
              <a:cs typeface="Open Sans"/>
            </a:endParaRPr>
          </a:p>
          <a:p>
            <a:pPr algn="just">
              <a:defRPr/>
            </a:pPr>
            <a:r>
              <a:rPr sz="20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	</a:t>
            </a:r>
            <a:r>
              <a:rPr sz="2000" b="0" i="0" u="none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Для решения этой проблемы возникает необходимость разделить матрицы весов модели между различными устройствами. Такой подход требует создания определенных "разрезов" нейронной сети, которые будут распределены по доступным ресурсам.</a:t>
            </a:r>
            <a:endParaRPr sz="200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  <a:p>
            <a:pPr algn="just">
              <a:defRPr/>
            </a:pPr>
            <a:endParaRPr sz="2000">
              <a:solidFill>
                <a:schemeClr val="tx1"/>
              </a:solidFill>
              <a:latin typeface="Open Sans"/>
              <a:cs typeface="Open Sans"/>
            </a:endParaRPr>
          </a:p>
          <a:p>
            <a:pPr algn="just">
              <a:defRPr/>
            </a:pPr>
            <a:r>
              <a:rPr sz="20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	</a:t>
            </a:r>
            <a:r>
              <a:rPr sz="2000" b="1" i="0" u="none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Цель</a:t>
            </a:r>
            <a:r>
              <a:rPr sz="2000" b="0" i="0" u="none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: </a:t>
            </a:r>
            <a:r>
              <a:rPr sz="2000" b="0" i="0" u="sng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исследовать различные способы распределенного инференса и инструменты их реализации.</a:t>
            </a:r>
            <a:endParaRPr/>
          </a:p>
        </p:txBody>
      </p:sp>
      <p:sp>
        <p:nvSpPr>
          <p:cNvPr id="1704228789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Постановка задачи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73373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Разрезы нейронной сети</a:t>
            </a:r>
            <a:endParaRPr/>
          </a:p>
        </p:txBody>
      </p:sp>
      <p:pic>
        <p:nvPicPr>
          <p:cNvPr id="251428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9349" y="994410"/>
            <a:ext cx="10060024" cy="52010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31047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Тензорный параллелизм</a:t>
            </a:r>
            <a:endParaRPr/>
          </a:p>
        </p:txBody>
      </p:sp>
      <p:pic>
        <p:nvPicPr>
          <p:cNvPr id="59195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0" flipH="0" flipV="0">
            <a:off x="1113285" y="1091139"/>
            <a:ext cx="10000839" cy="5466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386233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Конвейерный параллелизм</a:t>
            </a:r>
            <a:endParaRPr/>
          </a:p>
        </p:txBody>
      </p:sp>
      <p:pic>
        <p:nvPicPr>
          <p:cNvPr id="3398004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0" flipH="0" flipV="0">
            <a:off x="22860" y="2016124"/>
            <a:ext cx="12058824" cy="2619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82142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Архитектура </a:t>
            </a:r>
            <a:r>
              <a:rPr lang="en-US"/>
              <a:t>MoE</a:t>
            </a:r>
            <a:endParaRPr/>
          </a:p>
        </p:txBody>
      </p:sp>
      <p:pic>
        <p:nvPicPr>
          <p:cNvPr id="181833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0" flipH="0" flipV="0">
            <a:off x="332492" y="1042035"/>
            <a:ext cx="11051506" cy="5376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022593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Экспертный параллелизм</a:t>
            </a:r>
            <a:endParaRPr/>
          </a:p>
        </p:txBody>
      </p:sp>
      <p:pic>
        <p:nvPicPr>
          <p:cNvPr id="846164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23999" y="915035"/>
            <a:ext cx="9193249" cy="5928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63602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Оптимизации распределенного инференса</a:t>
            </a:r>
            <a:endParaRPr/>
          </a:p>
        </p:txBody>
      </p:sp>
      <p:sp>
        <p:nvSpPr>
          <p:cNvPr id="1883399448" name=""/>
          <p:cNvSpPr/>
          <p:nvPr/>
        </p:nvSpPr>
        <p:spPr bwMode="auto">
          <a:xfrm flipH="0" flipV="0">
            <a:off x="1602885" y="1587499"/>
            <a:ext cx="3000375" cy="936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sz="3000"/>
              <a:t>Любые архитектуры</a:t>
            </a:r>
            <a:endParaRPr/>
          </a:p>
        </p:txBody>
      </p:sp>
      <p:sp>
        <p:nvSpPr>
          <p:cNvPr id="1493461585" name=""/>
          <p:cNvSpPr/>
          <p:nvPr/>
        </p:nvSpPr>
        <p:spPr bwMode="auto">
          <a:xfrm rot="16199969" flipH="0" flipV="0">
            <a:off x="1254125" y="2872884"/>
            <a:ext cx="1031874" cy="33435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42204144" name=""/>
          <p:cNvSpPr/>
          <p:nvPr/>
        </p:nvSpPr>
        <p:spPr bwMode="auto">
          <a:xfrm rot="16199969" flipH="0" flipV="0">
            <a:off x="3920146" y="2859232"/>
            <a:ext cx="1031874" cy="334353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71258159" name=""/>
          <p:cNvSpPr/>
          <p:nvPr/>
        </p:nvSpPr>
        <p:spPr bwMode="auto">
          <a:xfrm flipH="0" flipV="0">
            <a:off x="608014" y="3542347"/>
            <a:ext cx="2324096" cy="2220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sz="2600"/>
              <a:t>Выгрузка параметров</a:t>
            </a:r>
            <a:endParaRPr sz="2600"/>
          </a:p>
          <a:p>
            <a:pPr algn="ctr">
              <a:defRPr/>
            </a:pPr>
            <a:r>
              <a:rPr sz="2600"/>
              <a:t>(</a:t>
            </a:r>
            <a:r>
              <a:rPr lang="en-US" sz="2600"/>
              <a:t>ZeRO)</a:t>
            </a:r>
            <a:endParaRPr sz="2600"/>
          </a:p>
        </p:txBody>
      </p:sp>
      <p:sp>
        <p:nvSpPr>
          <p:cNvPr id="516603714" name=""/>
          <p:cNvSpPr/>
          <p:nvPr/>
        </p:nvSpPr>
        <p:spPr bwMode="auto">
          <a:xfrm flipH="0" flipV="0">
            <a:off x="3140665" y="3542347"/>
            <a:ext cx="2590835" cy="2220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sz="2600"/>
              <a:t>Оптимизация коллективных операций</a:t>
            </a:r>
            <a:endParaRPr sz="2600"/>
          </a:p>
          <a:p>
            <a:pPr algn="ctr">
              <a:defRPr/>
            </a:pPr>
            <a:r>
              <a:rPr lang="en-US" sz="2600"/>
              <a:t>(DeepSpeed-Inference)</a:t>
            </a:r>
            <a:endParaRPr sz="2600"/>
          </a:p>
        </p:txBody>
      </p:sp>
      <p:sp>
        <p:nvSpPr>
          <p:cNvPr id="1741786736" name=""/>
          <p:cNvSpPr/>
          <p:nvPr/>
        </p:nvSpPr>
        <p:spPr bwMode="auto">
          <a:xfrm flipH="0" flipV="0">
            <a:off x="7613159" y="1587499"/>
            <a:ext cx="3000375" cy="936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sz="3000"/>
              <a:t>Архитектура </a:t>
            </a:r>
            <a:r>
              <a:rPr lang="en-US" sz="3000"/>
              <a:t>MoE</a:t>
            </a:r>
            <a:endParaRPr/>
          </a:p>
        </p:txBody>
      </p:sp>
      <p:sp>
        <p:nvSpPr>
          <p:cNvPr id="1842593442" name=""/>
          <p:cNvSpPr/>
          <p:nvPr/>
        </p:nvSpPr>
        <p:spPr bwMode="auto">
          <a:xfrm rot="16199969" flipH="0" flipV="0">
            <a:off x="8597409" y="2872885"/>
            <a:ext cx="1031874" cy="334353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896327" name=""/>
          <p:cNvSpPr/>
          <p:nvPr/>
        </p:nvSpPr>
        <p:spPr bwMode="auto">
          <a:xfrm flipH="0" flipV="0">
            <a:off x="7162314" y="3542347"/>
            <a:ext cx="3902064" cy="2220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p>
            <a:pPr algn="ctr">
              <a:defRPr/>
            </a:pPr>
            <a:r>
              <a:rPr lang="ru-RU" sz="2600"/>
              <a:t>Перераспределение токенов и </a:t>
            </a:r>
            <a:r>
              <a:rPr lang="ru-RU" sz="2600"/>
              <a:t>экспертов между </a:t>
            </a:r>
            <a:r>
              <a:rPr lang="en-US" sz="2600"/>
              <a:t>GPU</a:t>
            </a:r>
            <a:endParaRPr lang="en-US" sz="2600"/>
          </a:p>
          <a:p>
            <a:pPr algn="ctr">
              <a:defRPr/>
            </a:pPr>
            <a:r>
              <a:rPr lang="en-US" sz="2600"/>
              <a:t>(Speculative MoE)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658625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Фреймворки для распределенного инференса</a:t>
            </a:r>
            <a:endParaRPr/>
          </a:p>
        </p:txBody>
      </p:sp>
      <p:graphicFrame>
        <p:nvGraphicFramePr>
          <p:cNvPr id="1785741188" name=""/>
          <p:cNvGraphicFramePr>
            <a:graphicFrameLocks xmlns:a="http://schemas.openxmlformats.org/drawingml/2006/main"/>
          </p:cNvGraphicFramePr>
          <p:nvPr/>
        </p:nvGraphicFramePr>
        <p:xfrm>
          <a:off x="81000" y="1035049"/>
          <a:ext cx="8127999" cy="80765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10000"/>
                <a:gridCol w="3690000"/>
                <a:gridCol w="3690000"/>
                <a:gridCol w="3798798"/>
              </a:tblGrid>
              <a:tr h="1002700">
                <a:tc>
                  <a:txBody>
                    <a:bodyPr/>
                    <a:p>
                      <a:pPr algn="ctr">
                        <a:defRPr/>
                      </a:pPr>
                      <a:endParaRPr sz="3200"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000"/>
                        <a:t>MindSpore</a:t>
                      </a:r>
                      <a:endParaRPr sz="3200"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000"/>
                        <a:t>DeepSpeed</a:t>
                      </a:r>
                      <a:endParaRPr sz="3200"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000"/>
                        <a:t>Megatron-LM</a:t>
                      </a:r>
                      <a:endParaRPr/>
                    </a:p>
                  </a:txBody>
                  <a:tcPr anchor="ctr"/>
                </a:tc>
              </a:tr>
              <a:tr h="236776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/>
                        <a:t>+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marL="305908" indent="-305908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Способен запускаться не только на </a:t>
                      </a:r>
                      <a:r>
                        <a:rPr lang="en-US" sz="2200"/>
                        <a:t>GPU</a:t>
                      </a:r>
                      <a:endParaRPr sz="2200"/>
                    </a:p>
                    <a:p>
                      <a:pPr marL="305908" indent="-305908" algn="ctr">
                        <a:buFont typeface="Arial"/>
                        <a:buChar char="•"/>
                        <a:defRPr/>
                      </a:pPr>
                      <a:r>
                        <a:rPr lang="en-US" sz="2200"/>
                        <a:t>MindIR</a:t>
                      </a:r>
                      <a:endParaRPr sz="2200"/>
                    </a:p>
                  </a:txBody>
                  <a:tcPr anchor="ctr"/>
                </a:tc>
                <a:tc>
                  <a:txBody>
                    <a:bodyPr/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Использует </a:t>
                      </a:r>
                      <a:r>
                        <a:rPr lang="en-US" sz="2200"/>
                        <a:t>torch</a:t>
                      </a:r>
                      <a:endParaRPr sz="2200"/>
                    </a:p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Тесная интеграция с другими библиотеками</a:t>
                      </a:r>
                      <a:endParaRPr sz="2200"/>
                    </a:p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lang="en-US" sz="2200"/>
                        <a:t>ZeRO</a:t>
                      </a:r>
                      <a:endParaRPr sz="2200"/>
                    </a:p>
                    <a:p>
                      <a:pPr>
                        <a:defRPr/>
                      </a:pPr>
                      <a:endParaRPr sz="2200"/>
                    </a:p>
                  </a:txBody>
                  <a:tcPr anchor="ctr"/>
                </a:tc>
                <a:tc>
                  <a:txBody>
                    <a:bodyPr/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sz="2200"/>
                        <a:t>Использует </a:t>
                      </a:r>
                      <a:r>
                        <a:rPr lang="en-US" sz="2200"/>
                        <a:t>torch</a:t>
                      </a:r>
                      <a:endParaRPr sz="2200"/>
                    </a:p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Тесная интеграция с оборудованием </a:t>
                      </a:r>
                      <a:r>
                        <a:rPr lang="en-US" sz="2200"/>
                        <a:t>NVIDIA</a:t>
                      </a:r>
                      <a:endParaRPr sz="2200"/>
                    </a:p>
                  </a:txBody>
                  <a:tcPr anchor="ctr"/>
                </a:tc>
              </a:tr>
              <a:tr h="209040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/>
                        <a:t>-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p>
                      <a:pPr marL="305908" indent="-305908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Ограничен</a:t>
                      </a:r>
                      <a:r>
                        <a:rPr lang="ru-RU" sz="2200"/>
                        <a:t>ия в библиотеках</a:t>
                      </a:r>
                      <a:endParaRPr sz="2200"/>
                    </a:p>
                    <a:p>
                      <a:pPr marL="305908" indent="-305908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Ограничения с </a:t>
                      </a:r>
                      <a:r>
                        <a:rPr lang="en-US" sz="2200"/>
                        <a:t>GPU</a:t>
                      </a:r>
                      <a:endParaRPr sz="2200"/>
                    </a:p>
                  </a:txBody>
                  <a:tcPr anchor="ctr"/>
                </a:tc>
                <a:tc>
                  <a:txBody>
                    <a:bodyPr/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sz="2200"/>
                        <a:t>Находится на ранней стадии</a:t>
                      </a:r>
                      <a:endParaRPr sz="2200"/>
                    </a:p>
                  </a:txBody>
                  <a:tcPr anchor="ctr"/>
                </a:tc>
                <a:tc>
                  <a:txBody>
                    <a:bodyPr/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Требует достаточно высокой компетенции</a:t>
                      </a:r>
                      <a:endParaRPr sz="2200"/>
                    </a:p>
                    <a:p>
                      <a:pPr marL="283879" indent="-283879" algn="ctr">
                        <a:buFont typeface="Arial"/>
                        <a:buChar char="•"/>
                        <a:defRPr/>
                      </a:pPr>
                      <a:r>
                        <a:rPr lang="ru-RU" sz="2200"/>
                        <a:t>Не оптимизирован под инференс</a:t>
                      </a:r>
                      <a:endParaRPr sz="220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094127" name="Объект 2"/>
          <p:cNvSpPr>
            <a:spLocks noGrp="1"/>
          </p:cNvSpPr>
          <p:nvPr>
            <p:ph sz="half" idx="1"/>
          </p:nvPr>
        </p:nvSpPr>
        <p:spPr bwMode="auto">
          <a:xfrm flipH="0" flipV="0">
            <a:off x="171449" y="1165859"/>
            <a:ext cx="11852910" cy="4930139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lnSpc>
                <a:spcPct val="100000"/>
              </a:lnSpc>
              <a:spcBef>
                <a:spcPts val="599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914400" indent="0">
              <a:lnSpc>
                <a:spcPct val="100000"/>
              </a:lnSpc>
              <a:spcBef>
                <a:spcPts val="599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1371600" indent="0">
              <a:lnSpc>
                <a:spcPct val="100000"/>
              </a:lnSpc>
              <a:spcBef>
                <a:spcPts val="599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1828800" indent="0">
              <a:lnSpc>
                <a:spcPct val="100000"/>
              </a:lnSpc>
              <a:spcBef>
                <a:spcPts val="599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marL="371994" indent="-371994" algn="just">
              <a:buFont typeface="Arial"/>
              <a:buChar char="•"/>
              <a:defRPr/>
            </a:pPr>
            <a:r>
              <a:rPr sz="2600">
                <a:solidFill>
                  <a:schemeClr val="tx1"/>
                </a:solidFill>
              </a:rPr>
              <a:t> Параллелизм по данным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sz="2600">
                <a:solidFill>
                  <a:schemeClr val="tx1"/>
                </a:solidFill>
              </a:rPr>
              <a:t> Тензорный параллелизм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lang="ru-RU" sz="2600">
                <a:solidFill>
                  <a:schemeClr val="tx1"/>
                </a:solidFill>
              </a:rPr>
              <a:t> </a:t>
            </a:r>
            <a:r>
              <a:rPr lang="en-US" sz="2600">
                <a:solidFill>
                  <a:schemeClr val="tx1"/>
                </a:solidFill>
              </a:rPr>
              <a:t>ZeRO </a:t>
            </a:r>
            <a:r>
              <a:rPr lang="ru-RU" sz="2600">
                <a:solidFill>
                  <a:schemeClr val="tx1"/>
                </a:solidFill>
              </a:rPr>
              <a:t>с выгрузкой параметров на </a:t>
            </a:r>
            <a:r>
              <a:rPr lang="en-US" sz="2600">
                <a:solidFill>
                  <a:schemeClr val="tx1"/>
                </a:solidFill>
              </a:rPr>
              <a:t>NVMe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lang="ru-RU" sz="2600">
                <a:solidFill>
                  <a:schemeClr val="tx1"/>
                </a:solidFill>
              </a:rPr>
              <a:t> </a:t>
            </a:r>
            <a:r>
              <a:rPr lang="en-US" sz="2600">
                <a:solidFill>
                  <a:schemeClr val="tx1"/>
                </a:solidFill>
              </a:rPr>
              <a:t>ZeRO </a:t>
            </a:r>
            <a:r>
              <a:rPr lang="ru-RU" sz="2600">
                <a:solidFill>
                  <a:schemeClr val="tx1"/>
                </a:solidFill>
              </a:rPr>
              <a:t>с выгрузкой параметров на </a:t>
            </a:r>
            <a:r>
              <a:rPr lang="en-US" sz="2600">
                <a:solidFill>
                  <a:schemeClr val="tx1"/>
                </a:solidFill>
              </a:rPr>
              <a:t>CPU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lang="ru-RU" sz="2600">
                <a:solidFill>
                  <a:schemeClr val="tx1"/>
                </a:solidFill>
              </a:rPr>
              <a:t> Параллелизм по данным с </a:t>
            </a:r>
            <a:r>
              <a:rPr lang="en-US" sz="2600">
                <a:solidFill>
                  <a:schemeClr val="tx1"/>
                </a:solidFill>
              </a:rPr>
              <a:t>ZeRO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lang="ru-RU" sz="2600">
                <a:solidFill>
                  <a:schemeClr val="tx1"/>
                </a:solidFill>
              </a:rPr>
              <a:t> Тензорный параллелизм с </a:t>
            </a:r>
            <a:r>
              <a:rPr lang="en-US" sz="2600">
                <a:solidFill>
                  <a:schemeClr val="tx1"/>
                </a:solidFill>
              </a:rPr>
              <a:t>ZeRO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lang="ru-RU" sz="2600">
                <a:solidFill>
                  <a:schemeClr val="tx1"/>
                </a:solidFill>
              </a:rPr>
              <a:t> Экспертный параллелизм</a:t>
            </a:r>
            <a:endParaRPr sz="2600">
              <a:solidFill>
                <a:schemeClr val="tx1"/>
              </a:solidFill>
            </a:endParaRPr>
          </a:p>
          <a:p>
            <a:pPr marL="371994" indent="-371994" algn="just">
              <a:buFont typeface="Arial"/>
              <a:buChar char="•"/>
              <a:defRPr/>
            </a:pPr>
            <a:r>
              <a:rPr lang="ru-RU" sz="2600">
                <a:solidFill>
                  <a:schemeClr val="tx1"/>
                </a:solidFill>
              </a:rPr>
              <a:t> Смешанный параллелизм: тензорный + экспертный</a:t>
            </a:r>
            <a:endParaRPr lang="en-US"/>
          </a:p>
        </p:txBody>
      </p:sp>
      <p:sp>
        <p:nvSpPr>
          <p:cNvPr id="63489135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Практические эксперименты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453028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Параллелизм по данным и тензорный параллелизм</a:t>
            </a:r>
            <a:endParaRPr/>
          </a:p>
        </p:txBody>
      </p:sp>
      <p:pic>
        <p:nvPicPr>
          <p:cNvPr id="6226066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734" y="930909"/>
            <a:ext cx="11789764" cy="58446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489489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Параллелизм по данным и тензорный параллелизм</a:t>
            </a:r>
            <a:endParaRPr/>
          </a:p>
        </p:txBody>
      </p:sp>
      <p:pic>
        <p:nvPicPr>
          <p:cNvPr id="1063107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734" y="935484"/>
            <a:ext cx="11749124" cy="5777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537925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en-US"/>
              <a:t>ZeRO c </a:t>
            </a:r>
            <a:r>
              <a:rPr lang="en-US"/>
              <a:t>CPU </a:t>
            </a:r>
            <a:r>
              <a:rPr lang="ru-RU"/>
              <a:t>и </a:t>
            </a:r>
            <a:r>
              <a:rPr lang="en-US"/>
              <a:t>NVMe</a:t>
            </a:r>
            <a:endParaRPr/>
          </a:p>
        </p:txBody>
      </p:sp>
      <p:pic>
        <p:nvPicPr>
          <p:cNvPr id="4332654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734" y="988360"/>
            <a:ext cx="11678639" cy="5742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25322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Тензорный параллелизм с </a:t>
            </a:r>
            <a:r>
              <a:rPr lang="en-US"/>
              <a:t>ZeRO</a:t>
            </a:r>
            <a:r>
              <a:rPr lang="ru-RU"/>
              <a:t> и без</a:t>
            </a:r>
            <a:endParaRPr/>
          </a:p>
        </p:txBody>
      </p:sp>
      <p:pic>
        <p:nvPicPr>
          <p:cNvPr id="2936039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1124" y="994410"/>
            <a:ext cx="11844374" cy="5874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033085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Использование </a:t>
            </a:r>
            <a:r>
              <a:rPr lang="en-US"/>
              <a:t>ZeRO c</a:t>
            </a:r>
            <a:r>
              <a:rPr lang="ru-RU"/>
              <a:t> </a:t>
            </a:r>
            <a:r>
              <a:rPr lang="en-US"/>
              <a:t>DP </a:t>
            </a:r>
            <a:r>
              <a:rPr lang="ru-RU"/>
              <a:t>и </a:t>
            </a:r>
            <a:r>
              <a:rPr lang="en-US"/>
              <a:t>TP</a:t>
            </a:r>
            <a:endParaRPr/>
          </a:p>
        </p:txBody>
      </p:sp>
      <p:pic>
        <p:nvPicPr>
          <p:cNvPr id="872290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964" y="1245643"/>
            <a:ext cx="11376910" cy="558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600131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Экспертный параллелизм с тензорным и без</a:t>
            </a:r>
            <a:endParaRPr/>
          </a:p>
        </p:txBody>
      </p:sp>
      <p:pic>
        <p:nvPicPr>
          <p:cNvPr id="17831316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734" y="994410"/>
            <a:ext cx="11764999" cy="5654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480082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ru-RU"/>
              <a:t>Экспертный параллелизм с тензорным и без</a:t>
            </a:r>
            <a:endParaRPr/>
          </a:p>
        </p:txBody>
      </p:sp>
      <p:pic>
        <p:nvPicPr>
          <p:cNvPr id="743844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4609" y="994410"/>
            <a:ext cx="11980264" cy="5802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826299" name="Объект 2"/>
          <p:cNvSpPr>
            <a:spLocks noGrp="1"/>
          </p:cNvSpPr>
          <p:nvPr>
            <p:ph sz="half" idx="1"/>
          </p:nvPr>
        </p:nvSpPr>
        <p:spPr bwMode="auto">
          <a:xfrm>
            <a:off x="171450" y="1165860"/>
            <a:ext cx="11852910" cy="551497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>
            <a:lvl1pPr marL="0" indent="0">
              <a:lnSpc>
                <a:spcPct val="100000"/>
              </a:lnSpc>
              <a:spcBef>
                <a:spcPts val="599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lnSpc>
                <a:spcPct val="100000"/>
              </a:lnSpc>
              <a:spcBef>
                <a:spcPts val="599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 marL="914400" indent="0">
              <a:lnSpc>
                <a:spcPct val="100000"/>
              </a:lnSpc>
              <a:spcBef>
                <a:spcPts val="599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 marL="1371600" indent="0">
              <a:lnSpc>
                <a:spcPct val="100000"/>
              </a:lnSpc>
              <a:spcBef>
                <a:spcPts val="599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 marL="1828800" indent="0">
              <a:lnSpc>
                <a:spcPct val="100000"/>
              </a:lnSpc>
              <a:spcBef>
                <a:spcPts val="599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marL="371994" indent="-371994" algn="just">
              <a:buFont typeface="Arial"/>
              <a:buAutoNum type="arabicPeriod"/>
              <a:defRPr/>
            </a:pPr>
            <a:r>
              <a:rPr lang="ru-RU" sz="2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Исследованы различные способы параллелизма моделей и изучены и</a:t>
            </a:r>
            <a:r>
              <a:rPr lang="ru-RU" sz="2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х основные преимущества и недостатки</a:t>
            </a:r>
            <a:endParaRPr sz="2600">
              <a:solidFill>
                <a:schemeClr val="tx1"/>
              </a:solidFill>
              <a:latin typeface="Open Sans"/>
              <a:cs typeface="Open Sans"/>
            </a:endParaRPr>
          </a:p>
          <a:p>
            <a:pPr marL="371994" indent="-371994" algn="just">
              <a:buFont typeface="Arial"/>
              <a:buAutoNum type="arabicPeriod"/>
              <a:defRPr/>
            </a:pPr>
            <a:r>
              <a:rPr sz="2600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Рассмотрены подходы к оптимизации распределённого инференса</a:t>
            </a:r>
            <a:endParaRPr sz="2600">
              <a:solidFill>
                <a:schemeClr val="tx1"/>
              </a:solidFill>
              <a:latin typeface="Open Sans"/>
              <a:cs typeface="Open Sans"/>
            </a:endParaRPr>
          </a:p>
          <a:p>
            <a:pPr marL="371994" indent="-371994" algn="just">
              <a:buFont typeface="Arial"/>
              <a:buAutoNum type="arabicPeriod"/>
              <a:defRPr/>
            </a:pPr>
            <a:r>
              <a:rPr sz="2600" spc="23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Проведён анализ существующих фреймворков, предоставляющих инструменты для реализации распределённого инференса</a:t>
            </a:r>
            <a:endParaRPr sz="2600">
              <a:solidFill>
                <a:schemeClr val="tx1"/>
              </a:solidFill>
              <a:latin typeface="Open Sans"/>
              <a:cs typeface="Open Sans"/>
            </a:endParaRPr>
          </a:p>
          <a:p>
            <a:pPr marL="371994" indent="-371994" algn="just">
              <a:buFont typeface="Arial"/>
              <a:buAutoNum type="arabicPeriod"/>
              <a:defRPr/>
            </a:pPr>
            <a:r>
              <a:rPr sz="2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Проведены практические экспериментами</a:t>
            </a:r>
            <a:r>
              <a:rPr sz="2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с некоторыми вида параллелизма</a:t>
            </a:r>
            <a:r>
              <a:rPr lang="en-US" sz="2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sz="2600">
                <a:solidFill>
                  <a:schemeClr val="tx1"/>
                </a:solidFill>
                <a:latin typeface="Open Sans"/>
                <a:ea typeface="Open Sans"/>
                <a:cs typeface="Open Sans"/>
              </a:rPr>
              <a:t>и показаны их преимущества и недостатки</a:t>
            </a:r>
            <a:endParaRPr/>
          </a:p>
        </p:txBody>
      </p:sp>
      <p:sp>
        <p:nvSpPr>
          <p:cNvPr id="1536032458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/>
              <a:t>Выводы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798858" name="Заголовок 1"/>
          <p:cNvSpPr>
            <a:spLocks noGrp="1"/>
          </p:cNvSpPr>
          <p:nvPr>
            <p:ph type="title"/>
          </p:nvPr>
        </p:nvSpPr>
        <p:spPr bwMode="auto">
          <a:xfrm>
            <a:off x="165735" y="434424"/>
            <a:ext cx="10860333" cy="55998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</a:defRPr>
            </a:lvl1pPr>
          </a:lstStyle>
          <a:p>
            <a:pPr>
              <a:defRPr/>
            </a:pPr>
            <a:r>
              <a:rPr lang="en-US"/>
              <a:t>Thank you for your attention</a:t>
            </a:r>
            <a:endParaRPr/>
          </a:p>
        </p:txBody>
      </p:sp>
      <p:pic>
        <p:nvPicPr>
          <p:cNvPr id="1054987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4317" y="994410"/>
            <a:ext cx="5033999" cy="5033999"/>
          </a:xfrm>
          <a:prstGeom prst="rect">
            <a:avLst/>
          </a:prstGeom>
        </p:spPr>
      </p:pic>
      <p:sp>
        <p:nvSpPr>
          <p:cNvPr id="1517285611" name=""/>
          <p:cNvSpPr txBox="1"/>
          <p:nvPr/>
        </p:nvSpPr>
        <p:spPr bwMode="auto">
          <a:xfrm flipH="0" flipV="0">
            <a:off x="3732249" y="6183174"/>
            <a:ext cx="4938134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 sz="2000" i="1">
                <a:highlight>
                  <a:srgbClr val="FFFFFF"/>
                </a:highlight>
              </a:rPr>
              <a:t>Сгенерировано</a:t>
            </a:r>
            <a:r>
              <a:rPr lang="ru-RU" sz="2000" i="1">
                <a:highlight>
                  <a:srgbClr val="FFFFFF"/>
                </a:highlight>
              </a:rPr>
              <a:t> нейросетью </a:t>
            </a:r>
            <a:r>
              <a:rPr lang="en-US" sz="2000" i="1">
                <a:highlight>
                  <a:srgbClr val="FFFFFF"/>
                </a:highlight>
              </a:rPr>
              <a:t>Qwen3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Arial"/>
        <a:cs typeface="Arial"/>
      </a:majorFont>
      <a:minorFont>
        <a:latin typeface="Open San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/>
  <cp:revision>612</cp:revision>
  <dcterms:created xsi:type="dcterms:W3CDTF">2020-09-23T09:03:25Z</dcterms:created>
  <dcterms:modified xsi:type="dcterms:W3CDTF">2025-06-04T10:57:04Z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